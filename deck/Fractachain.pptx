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Ultra-Bold" charset="1" panose="00000900000000000000"/>
      <p:regular r:id="rId21"/>
    </p:embeddedFont>
    <p:embeddedFont>
      <p:font typeface="Montserrat Medium" charset="1" panose="00000600000000000000"/>
      <p:regular r:id="rId22"/>
    </p:embeddedFont>
    <p:embeddedFont>
      <p:font typeface="Canva Sans Bold" charset="1" panose="020B0803030501040103"/>
      <p:regular r:id="rId23"/>
    </p:embeddedFont>
    <p:embeddedFont>
      <p:font typeface="Montserrat" charset="1" panose="00000500000000000000"/>
      <p:regular r:id="rId24"/>
    </p:embeddedFont>
    <p:embeddedFont>
      <p:font typeface="Montserrat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624247" y="6493710"/>
            <a:ext cx="13758809" cy="2020260"/>
          </a:xfrm>
          <a:prstGeom prst="rect">
            <a:avLst/>
          </a:prstGeom>
        </p:spPr>
        <p:txBody>
          <a:bodyPr anchor="t" rtlCol="false" tIns="0" lIns="0" bIns="0" rIns="0">
            <a:spAutoFit/>
          </a:bodyPr>
          <a:lstStyle/>
          <a:p>
            <a:pPr algn="l">
              <a:lnSpc>
                <a:spcPts val="15248"/>
              </a:lnSpc>
            </a:pPr>
            <a:r>
              <a:rPr lang="en-US" sz="15248" b="true">
                <a:solidFill>
                  <a:srgbClr val="000000"/>
                </a:solidFill>
                <a:latin typeface="Montserrat Ultra-Bold"/>
                <a:ea typeface="Montserrat Ultra-Bold"/>
                <a:cs typeface="Montserrat Ultra-Bold"/>
                <a:sym typeface="Montserrat Ultra-Bold"/>
              </a:rPr>
              <a:t>Fractachain</a:t>
            </a:r>
          </a:p>
        </p:txBody>
      </p:sp>
      <p:sp>
        <p:nvSpPr>
          <p:cNvPr name="AutoShape 3" id="3"/>
          <p:cNvSpPr/>
          <p:nvPr/>
        </p:nvSpPr>
        <p:spPr>
          <a:xfrm flipV="true">
            <a:off x="1624247" y="6198435"/>
            <a:ext cx="1555561" cy="0"/>
          </a:xfrm>
          <a:prstGeom prst="line">
            <a:avLst/>
          </a:prstGeom>
          <a:ln cap="flat" w="85725">
            <a:solidFill>
              <a:srgbClr val="000000"/>
            </a:solidFill>
            <a:prstDash val="solid"/>
            <a:headEnd type="none" len="sm" w="sm"/>
            <a:tailEnd type="none" len="sm" w="sm"/>
          </a:ln>
        </p:spPr>
      </p:sp>
      <p:sp>
        <p:nvSpPr>
          <p:cNvPr name="Freeform 4" id="4"/>
          <p:cNvSpPr/>
          <p:nvPr/>
        </p:nvSpPr>
        <p:spPr>
          <a:xfrm flipH="false" flipV="false" rot="0">
            <a:off x="14089324" y="6532872"/>
            <a:ext cx="2950344" cy="1646661"/>
          </a:xfrm>
          <a:custGeom>
            <a:avLst/>
            <a:gdLst/>
            <a:ahLst/>
            <a:cxnLst/>
            <a:rect r="r" b="b" t="t" l="l"/>
            <a:pathLst>
              <a:path h="1646661" w="2950344">
                <a:moveTo>
                  <a:pt x="0" y="0"/>
                </a:moveTo>
                <a:lnTo>
                  <a:pt x="2950344" y="0"/>
                </a:lnTo>
                <a:lnTo>
                  <a:pt x="2950344" y="1646661"/>
                </a:lnTo>
                <a:lnTo>
                  <a:pt x="0" y="1646661"/>
                </a:lnTo>
                <a:lnTo>
                  <a:pt x="0" y="0"/>
                </a:lnTo>
                <a:close/>
              </a:path>
            </a:pathLst>
          </a:custGeom>
          <a:blipFill>
            <a:blip r:embed="rId2"/>
            <a:stretch>
              <a:fillRect l="0" t="0" r="0" b="0"/>
            </a:stretch>
          </a:blipFill>
        </p:spPr>
      </p:sp>
      <p:sp>
        <p:nvSpPr>
          <p:cNvPr name="TextBox 5" id="5"/>
          <p:cNvSpPr txBox="true"/>
          <p:nvPr/>
        </p:nvSpPr>
        <p:spPr>
          <a:xfrm rot="0">
            <a:off x="1624247" y="8351134"/>
            <a:ext cx="15415421" cy="311619"/>
          </a:xfrm>
          <a:prstGeom prst="rect">
            <a:avLst/>
          </a:prstGeom>
        </p:spPr>
        <p:txBody>
          <a:bodyPr anchor="t" rtlCol="false" tIns="0" lIns="0" bIns="0" rIns="0">
            <a:spAutoFit/>
          </a:bodyPr>
          <a:lstStyle/>
          <a:p>
            <a:pPr algn="l">
              <a:lnSpc>
                <a:spcPts val="2334"/>
              </a:lnSpc>
            </a:pPr>
            <a:r>
              <a:rPr lang="en-US" b="true" sz="2334" spc="1080">
                <a:solidFill>
                  <a:srgbClr val="000000"/>
                </a:solidFill>
                <a:latin typeface="Montserrat Medium"/>
                <a:ea typeface="Montserrat Medium"/>
                <a:cs typeface="Montserrat Medium"/>
                <a:sym typeface="Montserrat Medium"/>
              </a:rPr>
              <a:t>FIRST RWA MARKET IN ARGENTINA BUILT ON STELLAR</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624247" y="2227178"/>
            <a:ext cx="14399485" cy="3533357"/>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Connecting Argentine Businesses to Capital Markets</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455844" y="1378637"/>
            <a:ext cx="13463330" cy="813072"/>
          </a:xfrm>
          <a:prstGeom prst="rect">
            <a:avLst/>
          </a:prstGeom>
        </p:spPr>
        <p:txBody>
          <a:bodyPr anchor="t" rtlCol="false" tIns="0" lIns="0" bIns="0" rIns="0">
            <a:spAutoFit/>
          </a:bodyPr>
          <a:lstStyle/>
          <a:p>
            <a:pPr algn="l" marL="0" indent="0" lvl="0">
              <a:lnSpc>
                <a:spcPts val="6135"/>
              </a:lnSpc>
              <a:spcBef>
                <a:spcPct val="0"/>
              </a:spcBef>
            </a:pPr>
            <a:r>
              <a:rPr lang="en-US" b="true" sz="6135">
                <a:solidFill>
                  <a:srgbClr val="000000"/>
                </a:solidFill>
                <a:latin typeface="Montserrat Ultra-Bold"/>
                <a:ea typeface="Montserrat Ultra-Bold"/>
                <a:cs typeface="Montserrat Ultra-Bold"/>
                <a:sym typeface="Montserrat Ultra-Bold"/>
              </a:rPr>
              <a:t>HIGH FINANCING COSTS</a:t>
            </a:r>
          </a:p>
        </p:txBody>
      </p:sp>
      <p:sp>
        <p:nvSpPr>
          <p:cNvPr name="TextBox 3" id="3"/>
          <p:cNvSpPr txBox="true"/>
          <p:nvPr/>
        </p:nvSpPr>
        <p:spPr>
          <a:xfrm rot="0">
            <a:off x="11135340" y="7298376"/>
            <a:ext cx="5695294" cy="855327"/>
          </a:xfrm>
          <a:prstGeom prst="rect">
            <a:avLst/>
          </a:prstGeom>
        </p:spPr>
        <p:txBody>
          <a:bodyPr anchor="t" rtlCol="false" tIns="0" lIns="0" bIns="0" rIns="0">
            <a:spAutoFit/>
          </a:bodyPr>
          <a:lstStyle/>
          <a:p>
            <a:pPr algn="ctr">
              <a:lnSpc>
                <a:spcPts val="6987"/>
              </a:lnSpc>
            </a:pPr>
            <a:r>
              <a:rPr lang="en-US" sz="4991" b="true">
                <a:solidFill>
                  <a:srgbClr val="000000"/>
                </a:solidFill>
                <a:latin typeface="Canva Sans Bold"/>
                <a:ea typeface="Canva Sans Bold"/>
                <a:cs typeface="Canva Sans Bold"/>
                <a:sym typeface="Canva Sans Bold"/>
              </a:rPr>
              <a:t>Traditional Market</a:t>
            </a:r>
          </a:p>
        </p:txBody>
      </p:sp>
      <p:sp>
        <p:nvSpPr>
          <p:cNvPr name="TextBox 4" id="4"/>
          <p:cNvSpPr txBox="true"/>
          <p:nvPr/>
        </p:nvSpPr>
        <p:spPr>
          <a:xfrm rot="0">
            <a:off x="1455844" y="6983224"/>
            <a:ext cx="7843851" cy="1290700"/>
          </a:xfrm>
          <a:prstGeom prst="rect">
            <a:avLst/>
          </a:prstGeom>
        </p:spPr>
        <p:txBody>
          <a:bodyPr anchor="t" rtlCol="false" tIns="0" lIns="0" bIns="0" rIns="0">
            <a:spAutoFit/>
          </a:bodyPr>
          <a:lstStyle/>
          <a:p>
            <a:pPr algn="ctr">
              <a:lnSpc>
                <a:spcPts val="10465"/>
              </a:lnSpc>
            </a:pPr>
            <a:r>
              <a:rPr lang="en-US" sz="7475" b="true">
                <a:solidFill>
                  <a:srgbClr val="000000"/>
                </a:solidFill>
                <a:latin typeface="Canva Sans Bold"/>
                <a:ea typeface="Canva Sans Bold"/>
                <a:cs typeface="Canva Sans Bold"/>
                <a:sym typeface="Canva Sans Bold"/>
              </a:rPr>
              <a:t>With Fractachain</a:t>
            </a:r>
          </a:p>
        </p:txBody>
      </p:sp>
      <p:sp>
        <p:nvSpPr>
          <p:cNvPr name="TextBox 5" id="5"/>
          <p:cNvSpPr txBox="true"/>
          <p:nvPr/>
        </p:nvSpPr>
        <p:spPr>
          <a:xfrm rot="0">
            <a:off x="9987590" y="5786187"/>
            <a:ext cx="3464683" cy="1333429"/>
          </a:xfrm>
          <a:prstGeom prst="rect">
            <a:avLst/>
          </a:prstGeom>
        </p:spPr>
        <p:txBody>
          <a:bodyPr anchor="t" rtlCol="false" tIns="0" lIns="0" bIns="0" rIns="0">
            <a:spAutoFit/>
          </a:bodyPr>
          <a:lstStyle/>
          <a:p>
            <a:pPr algn="l">
              <a:lnSpc>
                <a:spcPts val="3870"/>
              </a:lnSpc>
            </a:pPr>
            <a:r>
              <a:rPr lang="en-US" sz="3071" spc="125">
                <a:solidFill>
                  <a:srgbClr val="000000"/>
                </a:solidFill>
                <a:latin typeface="Montserrat"/>
                <a:ea typeface="Montserrat"/>
                <a:cs typeface="Montserrat"/>
                <a:sym typeface="Montserrat"/>
              </a:rPr>
              <a:t>USD 100k–300k</a:t>
            </a:r>
          </a:p>
          <a:p>
            <a:pPr algn="l">
              <a:lnSpc>
                <a:spcPts val="3870"/>
              </a:lnSpc>
            </a:pPr>
            <a:r>
              <a:rPr lang="en-US" sz="3071" spc="125" b="true">
                <a:solidFill>
                  <a:srgbClr val="000000"/>
                </a:solidFill>
                <a:latin typeface="Montserrat Bold"/>
                <a:ea typeface="Montserrat Bold"/>
                <a:cs typeface="Montserrat Bold"/>
                <a:sym typeface="Montserrat Bold"/>
              </a:rPr>
              <a:t>Bond Issuance </a:t>
            </a:r>
          </a:p>
          <a:p>
            <a:pPr algn="l">
              <a:lnSpc>
                <a:spcPts val="2902"/>
              </a:lnSpc>
            </a:pPr>
          </a:p>
        </p:txBody>
      </p:sp>
      <p:sp>
        <p:nvSpPr>
          <p:cNvPr name="TextBox 6" id="6"/>
          <p:cNvSpPr txBox="true"/>
          <p:nvPr/>
        </p:nvSpPr>
        <p:spPr>
          <a:xfrm rot="0">
            <a:off x="13409309" y="5786187"/>
            <a:ext cx="3464683" cy="1332070"/>
          </a:xfrm>
          <a:prstGeom prst="rect">
            <a:avLst/>
          </a:prstGeom>
        </p:spPr>
        <p:txBody>
          <a:bodyPr anchor="t" rtlCol="false" tIns="0" lIns="0" bIns="0" rIns="0">
            <a:spAutoFit/>
          </a:bodyPr>
          <a:lstStyle/>
          <a:p>
            <a:pPr algn="l">
              <a:lnSpc>
                <a:spcPts val="3870"/>
              </a:lnSpc>
            </a:pPr>
            <a:r>
              <a:rPr lang="en-US" sz="3071" spc="125">
                <a:solidFill>
                  <a:srgbClr val="000000"/>
                </a:solidFill>
                <a:latin typeface="Montserrat"/>
                <a:ea typeface="Montserrat"/>
                <a:cs typeface="Montserrat"/>
                <a:sym typeface="Montserrat"/>
              </a:rPr>
              <a:t>USD 400k–800k</a:t>
            </a:r>
          </a:p>
          <a:p>
            <a:pPr algn="r">
              <a:lnSpc>
                <a:spcPts val="3870"/>
              </a:lnSpc>
            </a:pPr>
            <a:r>
              <a:rPr lang="en-US" b="true" sz="3071" spc="125">
                <a:solidFill>
                  <a:srgbClr val="000000"/>
                </a:solidFill>
                <a:latin typeface="Montserrat Bold"/>
                <a:ea typeface="Montserrat Bold"/>
                <a:cs typeface="Montserrat Bold"/>
                <a:sym typeface="Montserrat Bold"/>
              </a:rPr>
              <a:t>IPO </a:t>
            </a:r>
          </a:p>
          <a:p>
            <a:pPr algn="l">
              <a:lnSpc>
                <a:spcPts val="2902"/>
              </a:lnSpc>
            </a:pPr>
          </a:p>
        </p:txBody>
      </p:sp>
      <p:sp>
        <p:nvSpPr>
          <p:cNvPr name="TextBox 7" id="7"/>
          <p:cNvSpPr txBox="true"/>
          <p:nvPr/>
        </p:nvSpPr>
        <p:spPr>
          <a:xfrm rot="0">
            <a:off x="1486825" y="5786187"/>
            <a:ext cx="9080283" cy="1987477"/>
          </a:xfrm>
          <a:prstGeom prst="rect">
            <a:avLst/>
          </a:prstGeom>
        </p:spPr>
        <p:txBody>
          <a:bodyPr anchor="t" rtlCol="false" tIns="0" lIns="0" bIns="0" rIns="0">
            <a:spAutoFit/>
          </a:bodyPr>
          <a:lstStyle/>
          <a:p>
            <a:pPr algn="l">
              <a:lnSpc>
                <a:spcPts val="5796"/>
              </a:lnSpc>
            </a:pPr>
            <a:r>
              <a:rPr lang="en-US" sz="4600" spc="188">
                <a:solidFill>
                  <a:srgbClr val="000000"/>
                </a:solidFill>
                <a:latin typeface="Montserrat"/>
                <a:ea typeface="Montserrat"/>
                <a:cs typeface="Montserrat"/>
                <a:sym typeface="Montserrat"/>
              </a:rPr>
              <a:t>USD 30k–60k</a:t>
            </a:r>
          </a:p>
          <a:p>
            <a:pPr algn="l">
              <a:lnSpc>
                <a:spcPts val="5796"/>
              </a:lnSpc>
            </a:pPr>
            <a:r>
              <a:rPr lang="en-US" sz="4600" spc="188" b="true">
                <a:solidFill>
                  <a:srgbClr val="000000"/>
                </a:solidFill>
                <a:latin typeface="Montserrat Bold"/>
                <a:ea typeface="Montserrat Bold"/>
                <a:cs typeface="Montserrat Bold"/>
                <a:sym typeface="Montserrat Bold"/>
              </a:rPr>
              <a:t>Bond Issuance or IPO </a:t>
            </a:r>
          </a:p>
          <a:p>
            <a:pPr algn="l">
              <a:lnSpc>
                <a:spcPts val="4347"/>
              </a:lnSpc>
            </a:pPr>
          </a:p>
        </p:txBody>
      </p:sp>
      <p:sp>
        <p:nvSpPr>
          <p:cNvPr name="TextBox 8" id="8"/>
          <p:cNvSpPr txBox="true"/>
          <p:nvPr/>
        </p:nvSpPr>
        <p:spPr>
          <a:xfrm rot="0">
            <a:off x="1488116" y="2623843"/>
            <a:ext cx="15385876" cy="1496992"/>
          </a:xfrm>
          <a:prstGeom prst="rect">
            <a:avLst/>
          </a:prstGeom>
        </p:spPr>
        <p:txBody>
          <a:bodyPr anchor="t" rtlCol="false" tIns="0" lIns="0" bIns="0" rIns="0">
            <a:spAutoFit/>
          </a:bodyPr>
          <a:lstStyle/>
          <a:p>
            <a:pPr algn="l">
              <a:lnSpc>
                <a:spcPts val="3973"/>
              </a:lnSpc>
            </a:pPr>
            <a:r>
              <a:rPr lang="en-US" sz="3153" spc="129">
                <a:solidFill>
                  <a:srgbClr val="000000"/>
                </a:solidFill>
                <a:latin typeface="Montserrat"/>
                <a:ea typeface="Montserrat"/>
                <a:cs typeface="Montserrat"/>
                <a:sym typeface="Montserrat"/>
              </a:rPr>
              <a:t>Small and medium-sized businesses struggle to raise capital because accessing capital markets is prohibitively expensive and bureaucratic. With Fractachain, we solve that.</a:t>
            </a:r>
          </a:p>
        </p:txBody>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485923" y="1738563"/>
            <a:ext cx="13463330" cy="2356122"/>
          </a:xfrm>
          <a:prstGeom prst="rect">
            <a:avLst/>
          </a:prstGeom>
        </p:spPr>
        <p:txBody>
          <a:bodyPr anchor="t" rtlCol="false" tIns="0" lIns="0" bIns="0" rIns="0">
            <a:spAutoFit/>
          </a:bodyPr>
          <a:lstStyle/>
          <a:p>
            <a:pPr algn="l" marL="0" indent="0" lvl="0">
              <a:lnSpc>
                <a:spcPts val="6135"/>
              </a:lnSpc>
              <a:spcBef>
                <a:spcPct val="0"/>
              </a:spcBef>
            </a:pPr>
            <a:r>
              <a:rPr lang="en-US" b="true" sz="6135">
                <a:solidFill>
                  <a:srgbClr val="000000"/>
                </a:solidFill>
                <a:latin typeface="Montserrat Ultra-Bold"/>
                <a:ea typeface="Montserrat Ultra-Bold"/>
                <a:cs typeface="Montserrat Ultra-Bold"/>
                <a:sym typeface="Montserrat Ultra-Bold"/>
              </a:rPr>
              <a:t>TOKENIZATION WITHOUT A SECONDARY MARKET SIMPLY DOESN'T WORK</a:t>
            </a:r>
          </a:p>
        </p:txBody>
      </p:sp>
      <p:sp>
        <p:nvSpPr>
          <p:cNvPr name="TextBox 3" id="3"/>
          <p:cNvSpPr txBox="true"/>
          <p:nvPr/>
        </p:nvSpPr>
        <p:spPr>
          <a:xfrm rot="0">
            <a:off x="1485923" y="4877695"/>
            <a:ext cx="14943221" cy="1997650"/>
          </a:xfrm>
          <a:prstGeom prst="rect">
            <a:avLst/>
          </a:prstGeom>
        </p:spPr>
        <p:txBody>
          <a:bodyPr anchor="t" rtlCol="false" tIns="0" lIns="0" bIns="0" rIns="0">
            <a:spAutoFit/>
          </a:bodyPr>
          <a:lstStyle/>
          <a:p>
            <a:pPr algn="l">
              <a:lnSpc>
                <a:spcPts val="3973"/>
              </a:lnSpc>
            </a:pPr>
            <a:r>
              <a:rPr lang="en-US" sz="3153" spc="129">
                <a:solidFill>
                  <a:srgbClr val="000000"/>
                </a:solidFill>
                <a:latin typeface="Montserrat"/>
                <a:ea typeface="Montserrat"/>
                <a:cs typeface="Montserrat"/>
                <a:sym typeface="Montserrat"/>
              </a:rPr>
              <a:t>While multiple closed-loop solutions exist, they do not solve the fundamental need for exchange. Our objective goes beyond providing RWA technology: we are establishing Argentina's first regulated RWA trading venue.</a:t>
            </a:r>
          </a:p>
        </p:txBody>
      </p:sp>
      <p:sp>
        <p:nvSpPr>
          <p:cNvPr name="TextBox 4" id="4"/>
          <p:cNvSpPr txBox="true"/>
          <p:nvPr/>
        </p:nvSpPr>
        <p:spPr>
          <a:xfrm rot="0">
            <a:off x="1485923" y="7658354"/>
            <a:ext cx="14943221" cy="1452806"/>
          </a:xfrm>
          <a:prstGeom prst="rect">
            <a:avLst/>
          </a:prstGeom>
        </p:spPr>
        <p:txBody>
          <a:bodyPr anchor="t" rtlCol="false" tIns="0" lIns="0" bIns="0" rIns="0">
            <a:spAutoFit/>
          </a:bodyPr>
          <a:lstStyle/>
          <a:p>
            <a:pPr algn="l">
              <a:lnSpc>
                <a:spcPts val="3897"/>
              </a:lnSpc>
              <a:spcBef>
                <a:spcPct val="0"/>
              </a:spcBef>
            </a:pPr>
            <a:r>
              <a:rPr lang="en-US" sz="3093" spc="126">
                <a:solidFill>
                  <a:srgbClr val="000000"/>
                </a:solidFill>
                <a:latin typeface="Montserrat"/>
                <a:ea typeface="Montserrat"/>
                <a:cs typeface="Montserrat"/>
                <a:sym typeface="Montserrat"/>
              </a:rPr>
              <a:t>Democratizing investment in promising businesses not yet ready for traditional capital markets. </a:t>
            </a:r>
            <a:r>
              <a:rPr lang="en-US" b="true" sz="3093" spc="126">
                <a:solidFill>
                  <a:srgbClr val="000000"/>
                </a:solidFill>
                <a:latin typeface="Montserrat Bold"/>
                <a:ea typeface="Montserrat Bold"/>
                <a:cs typeface="Montserrat Bold"/>
                <a:sym typeface="Montserrat Bold"/>
              </a:rPr>
              <a:t>Making investing truly accessible to everyone.</a:t>
            </a: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747476" y="4164684"/>
            <a:ext cx="14246177" cy="24243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Issuance </a:t>
            </a:r>
            <a:r>
              <a:rPr lang="en-US" sz="3093" spc="126">
                <a:solidFill>
                  <a:srgbClr val="000000"/>
                </a:solidFill>
                <a:latin typeface="Montserrat"/>
                <a:ea typeface="Montserrat"/>
                <a:cs typeface="Montserrat"/>
                <a:sym typeface="Montserrat"/>
              </a:rPr>
              <a:t>We guide businesses through digital public offerings — bonds and shares — under the CNV tokenization regime, generating revenue through listing and structuring fees.</a:t>
            </a:r>
          </a:p>
          <a:p>
            <a:pPr algn="l">
              <a:lnSpc>
                <a:spcPts val="3897"/>
              </a:lnSpc>
            </a:pPr>
          </a:p>
          <a:p>
            <a:pPr algn="l">
              <a:lnSpc>
                <a:spcPts val="3897"/>
              </a:lnSpc>
            </a:pPr>
          </a:p>
        </p:txBody>
      </p:sp>
      <p:sp>
        <p:nvSpPr>
          <p:cNvPr name="TextBox 3" id="3"/>
          <p:cNvSpPr txBox="true"/>
          <p:nvPr/>
        </p:nvSpPr>
        <p:spPr>
          <a:xfrm rot="0">
            <a:off x="1594168" y="2406889"/>
            <a:ext cx="14399485"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What We Do</a:t>
            </a:r>
          </a:p>
        </p:txBody>
      </p:sp>
      <p:sp>
        <p:nvSpPr>
          <p:cNvPr name="TextBox 4" id="4"/>
          <p:cNvSpPr txBox="true"/>
          <p:nvPr/>
        </p:nvSpPr>
        <p:spPr>
          <a:xfrm rot="0">
            <a:off x="1670822" y="6096000"/>
            <a:ext cx="14246177" cy="145280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Trading</a:t>
            </a:r>
            <a:r>
              <a:rPr lang="en-US" sz="3093" spc="126">
                <a:solidFill>
                  <a:srgbClr val="000000"/>
                </a:solidFill>
                <a:latin typeface="Montserrat"/>
                <a:ea typeface="Montserrat"/>
                <a:cs typeface="Montserrat"/>
                <a:sym typeface="Montserrat"/>
              </a:rPr>
              <a:t> Our secondary market lets investors buy and sell those securities 24/7, with compliance rules enforced on-chain, monetized via a small transaction fee per trade.</a:t>
            </a:r>
          </a:p>
        </p:txBody>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242272" y="2191709"/>
            <a:ext cx="15803456" cy="6888686"/>
          </a:xfrm>
          <a:custGeom>
            <a:avLst/>
            <a:gdLst/>
            <a:ahLst/>
            <a:cxnLst/>
            <a:rect r="r" b="b" t="t" l="l"/>
            <a:pathLst>
              <a:path h="6888686" w="15803456">
                <a:moveTo>
                  <a:pt x="0" y="0"/>
                </a:moveTo>
                <a:lnTo>
                  <a:pt x="15803456" y="0"/>
                </a:lnTo>
                <a:lnTo>
                  <a:pt x="15803456" y="6888686"/>
                </a:lnTo>
                <a:lnTo>
                  <a:pt x="0" y="6888686"/>
                </a:lnTo>
                <a:lnTo>
                  <a:pt x="0" y="0"/>
                </a:lnTo>
                <a:close/>
              </a:path>
            </a:pathLst>
          </a:custGeom>
          <a:blipFill>
            <a:blip r:embed="rId2"/>
            <a:stretch>
              <a:fillRect l="0" t="0" r="0" b="0"/>
            </a:stretch>
          </a:blipFill>
        </p:spPr>
      </p:sp>
      <p:sp>
        <p:nvSpPr>
          <p:cNvPr name="TextBox 3" id="3"/>
          <p:cNvSpPr txBox="true"/>
          <p:nvPr/>
        </p:nvSpPr>
        <p:spPr>
          <a:xfrm rot="0">
            <a:off x="1455844" y="1378637"/>
            <a:ext cx="13463330" cy="813072"/>
          </a:xfrm>
          <a:prstGeom prst="rect">
            <a:avLst/>
          </a:prstGeom>
        </p:spPr>
        <p:txBody>
          <a:bodyPr anchor="t" rtlCol="false" tIns="0" lIns="0" bIns="0" rIns="0">
            <a:spAutoFit/>
          </a:bodyPr>
          <a:lstStyle/>
          <a:p>
            <a:pPr algn="l" marL="0" indent="0" lvl="0">
              <a:lnSpc>
                <a:spcPts val="6135"/>
              </a:lnSpc>
              <a:spcBef>
                <a:spcPct val="0"/>
              </a:spcBef>
            </a:pPr>
            <a:r>
              <a:rPr lang="en-US" b="true" sz="6135">
                <a:solidFill>
                  <a:srgbClr val="000000"/>
                </a:solidFill>
                <a:latin typeface="Montserrat Ultra-Bold"/>
                <a:ea typeface="Montserrat Ultra-Bold"/>
                <a:cs typeface="Montserrat Ultra-Bold"/>
                <a:sym typeface="Montserrat Ultra-Bold"/>
              </a:rPr>
              <a:t>LIVE ON STELLAR TESTNET</a:t>
            </a:r>
          </a:p>
        </p:txBody>
      </p:sp>
      <p:sp>
        <p:nvSpPr>
          <p:cNvPr name="TextBox 4" id="4"/>
          <p:cNvSpPr txBox="true"/>
          <p:nvPr/>
        </p:nvSpPr>
        <p:spPr>
          <a:xfrm rot="0">
            <a:off x="3547467" y="8985145"/>
            <a:ext cx="11193066"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https://fractachain.up.railway.app/</a:t>
            </a:r>
          </a:p>
        </p:txBody>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485923" y="1036220"/>
            <a:ext cx="13463330" cy="1584597"/>
          </a:xfrm>
          <a:prstGeom prst="rect">
            <a:avLst/>
          </a:prstGeom>
        </p:spPr>
        <p:txBody>
          <a:bodyPr anchor="t" rtlCol="false" tIns="0" lIns="0" bIns="0" rIns="0">
            <a:spAutoFit/>
          </a:bodyPr>
          <a:lstStyle/>
          <a:p>
            <a:pPr algn="l" marL="0" indent="0" lvl="0">
              <a:lnSpc>
                <a:spcPts val="6135"/>
              </a:lnSpc>
              <a:spcBef>
                <a:spcPct val="0"/>
              </a:spcBef>
            </a:pPr>
            <a:r>
              <a:rPr lang="en-US" b="true" sz="6135">
                <a:solidFill>
                  <a:srgbClr val="000000"/>
                </a:solidFill>
                <a:latin typeface="Montserrat Ultra-Bold"/>
                <a:ea typeface="Montserrat Ultra-Bold"/>
                <a:cs typeface="Montserrat Ultra-Bold"/>
                <a:sym typeface="Montserrat Ultra-Bold"/>
              </a:rPr>
              <a:t>COMPLIANCE ENFORCED IN CODE</a:t>
            </a:r>
          </a:p>
        </p:txBody>
      </p:sp>
      <p:sp>
        <p:nvSpPr>
          <p:cNvPr name="TextBox 3" id="3"/>
          <p:cNvSpPr txBox="true"/>
          <p:nvPr/>
        </p:nvSpPr>
        <p:spPr>
          <a:xfrm rot="0">
            <a:off x="1485923" y="3016028"/>
            <a:ext cx="15153774" cy="1452806"/>
          </a:xfrm>
          <a:prstGeom prst="rect">
            <a:avLst/>
          </a:prstGeom>
        </p:spPr>
        <p:txBody>
          <a:bodyPr anchor="t" rtlCol="false" tIns="0" lIns="0" bIns="0" rIns="0">
            <a:spAutoFit/>
          </a:bodyPr>
          <a:lstStyle/>
          <a:p>
            <a:pPr algn="l">
              <a:lnSpc>
                <a:spcPts val="3897"/>
              </a:lnSpc>
              <a:spcBef>
                <a:spcPct val="0"/>
              </a:spcBef>
            </a:pPr>
            <a:r>
              <a:rPr lang="en-US" sz="3093" spc="126">
                <a:solidFill>
                  <a:srgbClr val="000000"/>
                </a:solidFill>
                <a:latin typeface="Montserrat"/>
                <a:ea typeface="Montserrat"/>
                <a:cs typeface="Montserrat"/>
                <a:sym typeface="Montserrat"/>
              </a:rPr>
              <a:t>The CNV tokenization regime expressly permits digital issuance of shares, bonds (ONs) and financial trusts. We operate inside the regime, not around it.</a:t>
            </a:r>
          </a:p>
        </p:txBody>
      </p:sp>
      <p:sp>
        <p:nvSpPr>
          <p:cNvPr name="TextBox 4" id="4"/>
          <p:cNvSpPr txBox="true"/>
          <p:nvPr/>
        </p:nvSpPr>
        <p:spPr>
          <a:xfrm rot="0">
            <a:off x="1485923" y="4890844"/>
            <a:ext cx="14522116" cy="3881681"/>
          </a:xfrm>
          <a:prstGeom prst="rect">
            <a:avLst/>
          </a:prstGeom>
        </p:spPr>
        <p:txBody>
          <a:bodyPr anchor="t" rtlCol="false" tIns="0" lIns="0" bIns="0" rIns="0">
            <a:spAutoFit/>
          </a:bodyPr>
          <a:lstStyle/>
          <a:p>
            <a:pPr algn="l" marL="667787" indent="-333893" lvl="1">
              <a:lnSpc>
                <a:spcPts val="3897"/>
              </a:lnSpc>
              <a:buFont typeface="Arial"/>
              <a:buChar char="•"/>
            </a:pPr>
            <a:r>
              <a:rPr lang="en-US" sz="3093" spc="126">
                <a:solidFill>
                  <a:srgbClr val="000000"/>
                </a:solidFill>
                <a:latin typeface="Montserrat"/>
                <a:ea typeface="Montserrat"/>
                <a:cs typeface="Montserrat"/>
                <a:sym typeface="Montserrat"/>
              </a:rPr>
              <a:t>Ley 26.831 + Ley 27.440: capital markets and SME financing framework</a:t>
            </a:r>
          </a:p>
          <a:p>
            <a:pPr algn="l" marL="667787" indent="-333893" lvl="1">
              <a:lnSpc>
                <a:spcPts val="3897"/>
              </a:lnSpc>
              <a:buFont typeface="Arial"/>
              <a:buChar char="•"/>
            </a:pPr>
            <a:r>
              <a:rPr lang="en-US" sz="3093" spc="126">
                <a:solidFill>
                  <a:srgbClr val="000000"/>
                </a:solidFill>
                <a:latin typeface="Montserrat"/>
                <a:ea typeface="Montserrat"/>
                <a:cs typeface="Montserrat"/>
                <a:sym typeface="Montserrat"/>
              </a:rPr>
              <a:t>RG 1069/25 + RG 1081/25: tokenization of shares, ONs and trusts is already legal</a:t>
            </a:r>
          </a:p>
          <a:p>
            <a:pPr algn="l" marL="667787" indent="-333893" lvl="1">
              <a:lnSpc>
                <a:spcPts val="3897"/>
              </a:lnSpc>
              <a:buFont typeface="Arial"/>
              <a:buChar char="•"/>
            </a:pPr>
            <a:r>
              <a:rPr lang="en-US" sz="3093" spc="126">
                <a:solidFill>
                  <a:srgbClr val="000000"/>
                </a:solidFill>
                <a:latin typeface="Montserrat"/>
                <a:ea typeface="Montserrat"/>
                <a:cs typeface="Montserrat"/>
                <a:sym typeface="Montserrat"/>
              </a:rPr>
              <a:t>RG 1150/26: extends tokenization to SME low-impact offerings, sandbox until Dec 2027</a:t>
            </a:r>
          </a:p>
          <a:p>
            <a:pPr algn="l" marL="667787" indent="-333893" lvl="1">
              <a:lnSpc>
                <a:spcPts val="3897"/>
              </a:lnSpc>
              <a:buFont typeface="Arial"/>
              <a:buChar char="•"/>
            </a:pPr>
            <a:r>
              <a:rPr lang="en-US" sz="3093" spc="126">
                <a:solidFill>
                  <a:srgbClr val="000000"/>
                </a:solidFill>
                <a:latin typeface="Montserrat"/>
                <a:ea typeface="Montserrat"/>
                <a:cs typeface="Montserrat"/>
                <a:sym typeface="Montserrat"/>
              </a:rPr>
              <a:t>RG 1058/25: PSAV registry, custody and AML requirements</a:t>
            </a:r>
          </a:p>
          <a:p>
            <a:pPr algn="l" marL="667787" indent="-333893" lvl="1">
              <a:lnSpc>
                <a:spcPts val="3897"/>
              </a:lnSpc>
              <a:buFont typeface="Arial"/>
              <a:buChar char="•"/>
            </a:pPr>
            <a:r>
              <a:rPr lang="en-US" sz="3093" spc="126">
                <a:solidFill>
                  <a:srgbClr val="000000"/>
                </a:solidFill>
                <a:latin typeface="Montserrat"/>
                <a:ea typeface="Montserrat"/>
                <a:cs typeface="Montserrat"/>
                <a:sym typeface="Montserrat"/>
              </a:rPr>
              <a:t>Ley 9643 + Civil Code: warrants and production forwards</a:t>
            </a:r>
          </a:p>
        </p:txBody>
      </p:sp>
    </p:spTree>
  </p:cSld>
  <p:clrMapOvr>
    <a:masterClrMapping/>
  </p:clrMapOvr>
  <p:transition spd="fast">
    <p:push dir="l"/>
  </p:transition>
</p:sld>
</file>

<file path=ppt/slides/slide8.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594168" y="3651591"/>
            <a:ext cx="14246177" cy="24243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24/7 Primary &amp; Secondary Trading </a:t>
            </a:r>
            <a:r>
              <a:rPr lang="en-US" sz="3093" spc="126">
                <a:solidFill>
                  <a:srgbClr val="000000"/>
                </a:solidFill>
                <a:latin typeface="Montserrat"/>
                <a:ea typeface="Montserrat"/>
                <a:cs typeface="Montserrat"/>
                <a:sym typeface="Montserrat"/>
              </a:rPr>
              <a:t>24/7 on-chain issuance and secondary market trading for tokenized shares and corporate bonds under CNV compliance.</a:t>
            </a:r>
          </a:p>
          <a:p>
            <a:pPr algn="l">
              <a:lnSpc>
                <a:spcPts val="3897"/>
              </a:lnSpc>
            </a:pPr>
          </a:p>
          <a:p>
            <a:pPr algn="l">
              <a:lnSpc>
                <a:spcPts val="3897"/>
              </a:lnSpc>
            </a:pPr>
          </a:p>
        </p:txBody>
      </p:sp>
      <p:sp>
        <p:nvSpPr>
          <p:cNvPr name="TextBox 3" id="3"/>
          <p:cNvSpPr txBox="true"/>
          <p:nvPr/>
        </p:nvSpPr>
        <p:spPr>
          <a:xfrm rot="0">
            <a:off x="1594168" y="1200150"/>
            <a:ext cx="14399485"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Next Steps</a:t>
            </a:r>
          </a:p>
        </p:txBody>
      </p:sp>
      <p:sp>
        <p:nvSpPr>
          <p:cNvPr name="TextBox 4" id="4"/>
          <p:cNvSpPr txBox="true"/>
          <p:nvPr/>
        </p:nvSpPr>
        <p:spPr>
          <a:xfrm rot="0">
            <a:off x="1594168" y="2833370"/>
            <a:ext cx="14859228" cy="498291"/>
          </a:xfrm>
          <a:prstGeom prst="rect">
            <a:avLst/>
          </a:prstGeom>
        </p:spPr>
        <p:txBody>
          <a:bodyPr anchor="t" rtlCol="false" tIns="0" lIns="0" bIns="0" rIns="0">
            <a:spAutoFit/>
          </a:bodyPr>
          <a:lstStyle/>
          <a:p>
            <a:pPr algn="l" marL="0" indent="0" lvl="0">
              <a:lnSpc>
                <a:spcPts val="3826"/>
              </a:lnSpc>
              <a:spcBef>
                <a:spcPct val="0"/>
              </a:spcBef>
            </a:pPr>
            <a:r>
              <a:rPr lang="en-US" b="true" sz="3826">
                <a:solidFill>
                  <a:srgbClr val="000000"/>
                </a:solidFill>
                <a:latin typeface="Montserrat Bold"/>
                <a:ea typeface="Montserrat Bold"/>
                <a:cs typeface="Montserrat Bold"/>
                <a:sym typeface="Montserrat Bold"/>
              </a:rPr>
              <a:t>PHASE 1 — CORE INFRASTRUCTURE (LIVE / CURRENT)</a:t>
            </a:r>
          </a:p>
        </p:txBody>
      </p:sp>
      <p:sp>
        <p:nvSpPr>
          <p:cNvPr name="TextBox 5" id="5"/>
          <p:cNvSpPr txBox="true"/>
          <p:nvPr/>
        </p:nvSpPr>
        <p:spPr>
          <a:xfrm rot="0">
            <a:off x="1594168" y="6399797"/>
            <a:ext cx="14246177" cy="24243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24/7 Traditional Equities </a:t>
            </a:r>
            <a:r>
              <a:rPr lang="en-US" sz="3093" spc="126">
                <a:solidFill>
                  <a:srgbClr val="000000"/>
                </a:solidFill>
                <a:latin typeface="Montserrat"/>
                <a:ea typeface="Montserrat"/>
                <a:cs typeface="Montserrat"/>
                <a:sym typeface="Montserrat"/>
              </a:rPr>
              <a:t>Compliant custody and tokenization of Merval blue-chip stocks for continuous trading and fractional shares.</a:t>
            </a:r>
          </a:p>
          <a:p>
            <a:pPr algn="l">
              <a:lnSpc>
                <a:spcPts val="3897"/>
              </a:lnSpc>
            </a:pPr>
          </a:p>
          <a:p>
            <a:pPr algn="l">
              <a:lnSpc>
                <a:spcPts val="3897"/>
              </a:lnSpc>
            </a:pPr>
          </a:p>
        </p:txBody>
      </p:sp>
      <p:sp>
        <p:nvSpPr>
          <p:cNvPr name="TextBox 6" id="6"/>
          <p:cNvSpPr txBox="true"/>
          <p:nvPr/>
        </p:nvSpPr>
        <p:spPr>
          <a:xfrm rot="0">
            <a:off x="1594168" y="5577656"/>
            <a:ext cx="14859228" cy="498291"/>
          </a:xfrm>
          <a:prstGeom prst="rect">
            <a:avLst/>
          </a:prstGeom>
        </p:spPr>
        <p:txBody>
          <a:bodyPr anchor="t" rtlCol="false" tIns="0" lIns="0" bIns="0" rIns="0">
            <a:spAutoFit/>
          </a:bodyPr>
          <a:lstStyle/>
          <a:p>
            <a:pPr algn="l" marL="0" indent="0" lvl="0">
              <a:lnSpc>
                <a:spcPts val="3826"/>
              </a:lnSpc>
              <a:spcBef>
                <a:spcPct val="0"/>
              </a:spcBef>
            </a:pPr>
            <a:r>
              <a:rPr lang="en-US" b="true" sz="3826">
                <a:solidFill>
                  <a:srgbClr val="000000"/>
                </a:solidFill>
                <a:latin typeface="Montserrat Bold"/>
                <a:ea typeface="Montserrat Bold"/>
                <a:cs typeface="Montserrat Bold"/>
                <a:sym typeface="Montserrat Bold"/>
              </a:rPr>
              <a:t>PHASE 2 — MERVAL TOKENIZATION &amp; CUSTODY</a:t>
            </a:r>
          </a:p>
        </p:txBody>
      </p:sp>
      <p:sp>
        <p:nvSpPr>
          <p:cNvPr name="TextBox 7" id="7"/>
          <p:cNvSpPr txBox="true"/>
          <p:nvPr/>
        </p:nvSpPr>
        <p:spPr>
          <a:xfrm rot="0">
            <a:off x="1594168" y="8036597"/>
            <a:ext cx="14246177" cy="4812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PSAV registration</a:t>
            </a:r>
            <a:r>
              <a:rPr lang="en-US" sz="3093" spc="126">
                <a:solidFill>
                  <a:srgbClr val="000000"/>
                </a:solidFill>
                <a:latin typeface="Montserrat"/>
                <a:ea typeface="Montserrat"/>
                <a:cs typeface="Montserrat"/>
                <a:sym typeface="Montserrat"/>
              </a:rPr>
              <a:t> and partnership with a licensed ALyC.</a:t>
            </a:r>
          </a:p>
        </p:txBody>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714386" y="5638381"/>
            <a:ext cx="14246177" cy="24243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Decentralized Forwards &amp; Warrants </a:t>
            </a:r>
            <a:r>
              <a:rPr lang="en-US" sz="3093" spc="126">
                <a:solidFill>
                  <a:srgbClr val="000000"/>
                </a:solidFill>
                <a:latin typeface="Montserrat"/>
                <a:ea typeface="Montserrat"/>
                <a:cs typeface="Montserrat"/>
                <a:sym typeface="Montserrat"/>
              </a:rPr>
              <a:t>Standardized hedging and forward contracts to manage volatility and hedge market positions.</a:t>
            </a:r>
          </a:p>
          <a:p>
            <a:pPr algn="l">
              <a:lnSpc>
                <a:spcPts val="3897"/>
              </a:lnSpc>
            </a:pPr>
          </a:p>
          <a:p>
            <a:pPr algn="l">
              <a:lnSpc>
                <a:spcPts val="3897"/>
              </a:lnSpc>
            </a:pPr>
          </a:p>
        </p:txBody>
      </p:sp>
      <p:sp>
        <p:nvSpPr>
          <p:cNvPr name="TextBox 3" id="3"/>
          <p:cNvSpPr txBox="true"/>
          <p:nvPr/>
        </p:nvSpPr>
        <p:spPr>
          <a:xfrm rot="0">
            <a:off x="1714386" y="2423355"/>
            <a:ext cx="14859228" cy="975600"/>
          </a:xfrm>
          <a:prstGeom prst="rect">
            <a:avLst/>
          </a:prstGeom>
        </p:spPr>
        <p:txBody>
          <a:bodyPr anchor="t" rtlCol="false" tIns="0" lIns="0" bIns="0" rIns="0">
            <a:spAutoFit/>
          </a:bodyPr>
          <a:lstStyle/>
          <a:p>
            <a:pPr algn="l" marL="0" indent="0" lvl="0">
              <a:lnSpc>
                <a:spcPts val="3826"/>
              </a:lnSpc>
              <a:spcBef>
                <a:spcPct val="0"/>
              </a:spcBef>
            </a:pPr>
            <a:r>
              <a:rPr lang="en-US" b="true" sz="3826">
                <a:solidFill>
                  <a:srgbClr val="000000"/>
                </a:solidFill>
                <a:latin typeface="Montserrat Bold"/>
                <a:ea typeface="Montserrat Bold"/>
                <a:cs typeface="Montserrat Bold"/>
                <a:sym typeface="Montserrat Bold"/>
              </a:rPr>
              <a:t>PHASE 3 — DERIVATIVES &amp; ADVANCED STRUCTURED PRODUCTS</a:t>
            </a:r>
          </a:p>
        </p:txBody>
      </p:sp>
      <p:sp>
        <p:nvSpPr>
          <p:cNvPr name="TextBox 4" id="4"/>
          <p:cNvSpPr txBox="true"/>
          <p:nvPr/>
        </p:nvSpPr>
        <p:spPr>
          <a:xfrm rot="0">
            <a:off x="1714386" y="4152418"/>
            <a:ext cx="14246177" cy="193858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Foreign Investor Exposure </a:t>
            </a:r>
            <a:r>
              <a:rPr lang="en-US" sz="3093" spc="126">
                <a:solidFill>
                  <a:srgbClr val="000000"/>
                </a:solidFill>
                <a:latin typeface="Montserrat"/>
                <a:ea typeface="Montserrat"/>
                <a:cs typeface="Montserrat"/>
                <a:sym typeface="Montserrat"/>
              </a:rPr>
              <a:t>Direct access for investors across 90+ countries under unified CNV compliance</a:t>
            </a:r>
          </a:p>
          <a:p>
            <a:pPr algn="l">
              <a:lnSpc>
                <a:spcPts val="3897"/>
              </a:lnSpc>
            </a:pPr>
          </a:p>
          <a:p>
            <a:pPr algn="l">
              <a:lnSpc>
                <a:spcPts val="3897"/>
              </a:lnSpc>
            </a:pPr>
          </a:p>
        </p:txBody>
      </p:sp>
      <p:sp>
        <p:nvSpPr>
          <p:cNvPr name="TextBox 5" id="5"/>
          <p:cNvSpPr txBox="true"/>
          <p:nvPr/>
        </p:nvSpPr>
        <p:spPr>
          <a:xfrm rot="0">
            <a:off x="1714386" y="7416198"/>
            <a:ext cx="14246177" cy="24243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Commodity-Backed Financing &amp; Escrow </a:t>
            </a:r>
            <a:r>
              <a:rPr lang="en-US" sz="3093" spc="126">
                <a:solidFill>
                  <a:srgbClr val="000000"/>
                </a:solidFill>
                <a:latin typeface="Montserrat"/>
                <a:ea typeface="Montserrat"/>
                <a:cs typeface="Montserrat"/>
                <a:sym typeface="Montserrat"/>
              </a:rPr>
              <a:t>Loans and forwards backed by production (wine, grain, dairy) using warrants under Law 9643</a:t>
            </a:r>
          </a:p>
          <a:p>
            <a:pPr algn="l">
              <a:lnSpc>
                <a:spcPts val="3897"/>
              </a:lnSpc>
            </a:pPr>
          </a:p>
          <a:p>
            <a:pPr algn="l">
              <a:lnSpc>
                <a:spcPts val="3897"/>
              </a:lnSpc>
            </a:pPr>
          </a:p>
        </p:txBody>
      </p:sp>
    </p:spTree>
  </p:cSld>
  <p:clrMapOvr>
    <a:masterClrMapping/>
  </p:clrMapOvr>
  <p:transition spd="fast">
    <p:push dir="l"/>
  </p:transition>
</p:sld>
</file>

<file path=ppt/slides/slide10.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594168" y="3419998"/>
            <a:ext cx="14246177" cy="193858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Soroban smart contracts: </a:t>
            </a:r>
            <a:r>
              <a:rPr lang="en-US" sz="3093" spc="126">
                <a:solidFill>
                  <a:srgbClr val="000000"/>
                </a:solidFill>
                <a:latin typeface="Montserrat"/>
                <a:ea typeface="Montserrat"/>
                <a:cs typeface="Montserrat"/>
                <a:sym typeface="Montserrat"/>
              </a:rPr>
              <a:t>issuance factory, offering and stock vault (deployed on testnet)</a:t>
            </a:r>
          </a:p>
          <a:p>
            <a:pPr algn="l">
              <a:lnSpc>
                <a:spcPts val="3897"/>
              </a:lnSpc>
            </a:pPr>
          </a:p>
          <a:p>
            <a:pPr algn="l">
              <a:lnSpc>
                <a:spcPts val="3897"/>
              </a:lnSpc>
            </a:pPr>
          </a:p>
        </p:txBody>
      </p:sp>
      <p:sp>
        <p:nvSpPr>
          <p:cNvPr name="TextBox 3" id="3"/>
          <p:cNvSpPr txBox="true"/>
          <p:nvPr/>
        </p:nvSpPr>
        <p:spPr>
          <a:xfrm rot="0">
            <a:off x="1594168" y="1200150"/>
            <a:ext cx="14399485"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Built on Stellar</a:t>
            </a:r>
          </a:p>
        </p:txBody>
      </p:sp>
      <p:sp>
        <p:nvSpPr>
          <p:cNvPr name="TextBox 4" id="4"/>
          <p:cNvSpPr txBox="true"/>
          <p:nvPr/>
        </p:nvSpPr>
        <p:spPr>
          <a:xfrm rot="0">
            <a:off x="1594168" y="4595082"/>
            <a:ext cx="14246177" cy="193858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Compliance in code: </a:t>
            </a:r>
            <a:r>
              <a:rPr lang="en-US" sz="3093" spc="126">
                <a:solidFill>
                  <a:srgbClr val="000000"/>
                </a:solidFill>
                <a:latin typeface="Montserrat"/>
                <a:ea typeface="Montserrat"/>
                <a:cs typeface="Montserrat"/>
                <a:sym typeface="Montserrat"/>
              </a:rPr>
              <a:t>only KYC-verified wallets can hold the tokens (AUTH_REQUIRED)</a:t>
            </a:r>
          </a:p>
          <a:p>
            <a:pPr algn="l">
              <a:lnSpc>
                <a:spcPts val="3897"/>
              </a:lnSpc>
            </a:pPr>
          </a:p>
          <a:p>
            <a:pPr algn="l">
              <a:lnSpc>
                <a:spcPts val="3897"/>
              </a:lnSpc>
            </a:pPr>
          </a:p>
        </p:txBody>
      </p:sp>
      <p:sp>
        <p:nvSpPr>
          <p:cNvPr name="TextBox 5" id="5"/>
          <p:cNvSpPr txBox="true"/>
          <p:nvPr/>
        </p:nvSpPr>
        <p:spPr>
          <a:xfrm rot="0">
            <a:off x="1594168" y="5682429"/>
            <a:ext cx="14246177" cy="96703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Secondary market on Stellar's built-in DEX (SDEX)</a:t>
            </a:r>
          </a:p>
          <a:p>
            <a:pPr algn="l">
              <a:lnSpc>
                <a:spcPts val="3897"/>
              </a:lnSpc>
            </a:pPr>
          </a:p>
        </p:txBody>
      </p:sp>
      <p:sp>
        <p:nvSpPr>
          <p:cNvPr name="TextBox 6" id="6"/>
          <p:cNvSpPr txBox="true"/>
          <p:nvPr/>
        </p:nvSpPr>
        <p:spPr>
          <a:xfrm rot="0">
            <a:off x="1594168" y="6514613"/>
            <a:ext cx="14246177" cy="4812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Payments in USDC and XLM</a:t>
            </a:r>
          </a:p>
        </p:txBody>
      </p:sp>
      <p:sp>
        <p:nvSpPr>
          <p:cNvPr name="TextBox 7" id="7"/>
          <p:cNvSpPr txBox="true"/>
          <p:nvPr/>
        </p:nvSpPr>
        <p:spPr>
          <a:xfrm rot="0">
            <a:off x="1594168" y="7319719"/>
            <a:ext cx="14246177" cy="193858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Roadmap: </a:t>
            </a:r>
            <a:r>
              <a:rPr lang="en-US" sz="3093" spc="126">
                <a:solidFill>
                  <a:srgbClr val="000000"/>
                </a:solidFill>
                <a:latin typeface="Montserrat"/>
                <a:ea typeface="Montserrat"/>
                <a:cs typeface="Montserrat"/>
                <a:sym typeface="Montserrat"/>
              </a:rPr>
              <a:t>fiat on/off-ramps via Stellar anchors: investors in 90+ countries.</a:t>
            </a:r>
          </a:p>
          <a:p>
            <a:pPr algn="l">
              <a:lnSpc>
                <a:spcPts val="3897"/>
              </a:lnSpc>
            </a:pPr>
          </a:p>
          <a:p>
            <a:pPr algn="l">
              <a:lnSpc>
                <a:spcPts val="3897"/>
              </a:lnSpc>
            </a:pPr>
          </a:p>
        </p:txBody>
      </p:sp>
    </p:spTree>
  </p:cSld>
  <p:clrMapOvr>
    <a:masterClrMapping/>
  </p:clrMapOvr>
  <p:transition spd="fast">
    <p:push dir="l"/>
  </p:transition>
</p:sld>
</file>

<file path=ppt/slides/slide11.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594168" y="1200150"/>
            <a:ext cx="14399485"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Built on Stellar</a:t>
            </a:r>
          </a:p>
        </p:txBody>
      </p:sp>
      <p:sp>
        <p:nvSpPr>
          <p:cNvPr name="TextBox 3" id="3"/>
          <p:cNvSpPr txBox="true"/>
          <p:nvPr/>
        </p:nvSpPr>
        <p:spPr>
          <a:xfrm rot="0">
            <a:off x="1603693" y="3494178"/>
            <a:ext cx="14246177" cy="96703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Custodial wallet or self-custody with Freighter (wallet login via SEP-53)</a:t>
            </a:r>
          </a:p>
        </p:txBody>
      </p:sp>
      <p:sp>
        <p:nvSpPr>
          <p:cNvPr name="TextBox 4" id="4"/>
          <p:cNvSpPr txBox="true"/>
          <p:nvPr/>
        </p:nvSpPr>
        <p:spPr>
          <a:xfrm rot="0">
            <a:off x="1594168" y="4727909"/>
            <a:ext cx="14246177" cy="96703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Built to integrate with: </a:t>
            </a:r>
            <a:r>
              <a:rPr lang="en-US" sz="3093" spc="126">
                <a:solidFill>
                  <a:srgbClr val="000000"/>
                </a:solidFill>
                <a:latin typeface="Montserrat"/>
                <a:ea typeface="Montserrat"/>
                <a:cs typeface="Montserrat"/>
                <a:sym typeface="Montserrat"/>
              </a:rPr>
              <a:t>Caja de Valores · BYMA · Matba Rofex · Anclap · Alfred Pay · MoneyGram · Circle CCTP</a:t>
            </a:r>
          </a:p>
        </p:txBody>
      </p:sp>
      <p:sp>
        <p:nvSpPr>
          <p:cNvPr name="TextBox 5" id="5"/>
          <p:cNvSpPr txBox="true"/>
          <p:nvPr/>
        </p:nvSpPr>
        <p:spPr>
          <a:xfrm rot="0">
            <a:off x="1603693" y="5961640"/>
            <a:ext cx="14246177" cy="145280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Order book 24/7, settlement in under 4 seconds, and on-chain takeover rules (OPA at 50%, squeeze-out at 95%), same rules as a traditional market</a:t>
            </a:r>
          </a:p>
        </p:txBody>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594168" y="2884245"/>
            <a:ext cx="14246177" cy="291013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1. Issuers first. </a:t>
            </a:r>
            <a:r>
              <a:rPr lang="en-US" sz="3093" spc="126">
                <a:solidFill>
                  <a:srgbClr val="000000"/>
                </a:solidFill>
                <a:latin typeface="Montserrat"/>
                <a:ea typeface="Montserrat"/>
                <a:cs typeface="Montserrat"/>
                <a:sym typeface="Montserrat"/>
              </a:rPr>
              <a:t>We target Argentine SMEs (small and medium-sized enterprises) that want to raise capital through a bond (ON) or shares, but can't afford the traditional market. We reach them through business chambers, SME associations, accountants and financial advisors.</a:t>
            </a:r>
          </a:p>
          <a:p>
            <a:pPr algn="l">
              <a:lnSpc>
                <a:spcPts val="3897"/>
              </a:lnSpc>
            </a:pPr>
          </a:p>
        </p:txBody>
      </p:sp>
      <p:sp>
        <p:nvSpPr>
          <p:cNvPr name="TextBox 3" id="3"/>
          <p:cNvSpPr txBox="true"/>
          <p:nvPr/>
        </p:nvSpPr>
        <p:spPr>
          <a:xfrm rot="0">
            <a:off x="1594168" y="1200150"/>
            <a:ext cx="14399485"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Go-To-Market</a:t>
            </a:r>
          </a:p>
        </p:txBody>
      </p:sp>
      <p:sp>
        <p:nvSpPr>
          <p:cNvPr name="TextBox 4" id="4"/>
          <p:cNvSpPr txBox="true"/>
          <p:nvPr/>
        </p:nvSpPr>
        <p:spPr>
          <a:xfrm rot="0">
            <a:off x="1594168" y="5503119"/>
            <a:ext cx="14246177" cy="24243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2. They bring their own investors.</a:t>
            </a:r>
            <a:r>
              <a:rPr lang="en-US" sz="3093" spc="126">
                <a:solidFill>
                  <a:srgbClr val="000000"/>
                </a:solidFill>
                <a:latin typeface="Montserrat"/>
                <a:ea typeface="Montserrat"/>
                <a:cs typeface="Montserrat"/>
                <a:sym typeface="Montserrat"/>
              </a:rPr>
              <a:t> A company looking for financing usually already has potential investors. What it lacks is the infrastructure, the technology and the regulatory know-how. We provide all of it.</a:t>
            </a:r>
          </a:p>
          <a:p>
            <a:pPr algn="l">
              <a:lnSpc>
                <a:spcPts val="3897"/>
              </a:lnSpc>
            </a:pPr>
          </a:p>
        </p:txBody>
      </p:sp>
      <p:sp>
        <p:nvSpPr>
          <p:cNvPr name="TextBox 5" id="5"/>
          <p:cNvSpPr txBox="true"/>
          <p:nvPr/>
        </p:nvSpPr>
        <p:spPr>
          <a:xfrm rot="0">
            <a:off x="1594168" y="7550493"/>
            <a:ext cx="14246177" cy="967031"/>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3. One success unlocks the rest.</a:t>
            </a:r>
            <a:r>
              <a:rPr lang="en-US" sz="3093" spc="126">
                <a:solidFill>
                  <a:srgbClr val="000000"/>
                </a:solidFill>
                <a:latin typeface="Montserrat"/>
                <a:ea typeface="Montserrat"/>
                <a:cs typeface="Montserrat"/>
                <a:sym typeface="Montserrat"/>
              </a:rPr>
              <a:t> Our first listing gives us the credibility to attract the next issuers.</a:t>
            </a:r>
          </a:p>
        </p:txBody>
      </p:sp>
    </p:spTree>
  </p:cSld>
  <p:clrMapOvr>
    <a:masterClrMapping/>
  </p:clrMapOvr>
  <p:transition spd="fast">
    <p:push dir="l"/>
  </p:transition>
</p:sld>
</file>

<file path=ppt/slides/slide13.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594168" y="2884245"/>
            <a:ext cx="14246177" cy="24243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4. A virtuous cycle. </a:t>
            </a:r>
            <a:r>
              <a:rPr lang="en-US" sz="3093" spc="126">
                <a:solidFill>
                  <a:srgbClr val="000000"/>
                </a:solidFill>
                <a:latin typeface="Montserrat"/>
                <a:ea typeface="Montserrat"/>
                <a:cs typeface="Montserrat"/>
                <a:sym typeface="Montserrat"/>
              </a:rPr>
              <a:t>Investors who come for one issuance stay for the next ones, because they already know how the platform works. More issuers bring more investors, and more investors attract more issuers. We also add ALyCs/brokers as a distribution channel.</a:t>
            </a:r>
          </a:p>
          <a:p>
            <a:pPr algn="l">
              <a:lnSpc>
                <a:spcPts val="3897"/>
              </a:lnSpc>
            </a:pPr>
          </a:p>
        </p:txBody>
      </p:sp>
      <p:sp>
        <p:nvSpPr>
          <p:cNvPr name="TextBox 3" id="3"/>
          <p:cNvSpPr txBox="true"/>
          <p:nvPr/>
        </p:nvSpPr>
        <p:spPr>
          <a:xfrm rot="0">
            <a:off x="1594168" y="1200150"/>
            <a:ext cx="14399485"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Go-To-Market</a:t>
            </a:r>
          </a:p>
        </p:txBody>
      </p:sp>
      <p:sp>
        <p:nvSpPr>
          <p:cNvPr name="TextBox 4" id="4"/>
          <p:cNvSpPr txBox="true"/>
          <p:nvPr/>
        </p:nvSpPr>
        <p:spPr>
          <a:xfrm rot="0">
            <a:off x="1594168" y="5503119"/>
            <a:ext cx="14246177" cy="24243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5. No crypto knowledge needed.</a:t>
            </a:r>
            <a:r>
              <a:rPr lang="en-US" sz="3093" spc="126">
                <a:solidFill>
                  <a:srgbClr val="000000"/>
                </a:solidFill>
                <a:latin typeface="Montserrat"/>
                <a:ea typeface="Montserrat"/>
                <a:cs typeface="Montserrat"/>
                <a:sym typeface="Montserrat"/>
              </a:rPr>
              <a:t> Blockchain runs behind the scenes. Users trade like on a normal broker, with an order book, prices and a portfolio, and never deal with wallets or tokens unless they want to.</a:t>
            </a:r>
          </a:p>
          <a:p>
            <a:pPr algn="l">
              <a:lnSpc>
                <a:spcPts val="3897"/>
              </a:lnSpc>
            </a:pPr>
          </a:p>
        </p:txBody>
      </p:sp>
      <p:sp>
        <p:nvSpPr>
          <p:cNvPr name="TextBox 5" id="5"/>
          <p:cNvSpPr txBox="true"/>
          <p:nvPr/>
        </p:nvSpPr>
        <p:spPr>
          <a:xfrm rot="0">
            <a:off x="1594168" y="8777044"/>
            <a:ext cx="14246177" cy="481256"/>
          </a:xfrm>
          <a:prstGeom prst="rect">
            <a:avLst/>
          </a:prstGeom>
        </p:spPr>
        <p:txBody>
          <a:bodyPr anchor="t" rtlCol="false" tIns="0" lIns="0" bIns="0" rIns="0">
            <a:spAutoFit/>
          </a:bodyPr>
          <a:lstStyle/>
          <a:p>
            <a:pPr algn="l">
              <a:lnSpc>
                <a:spcPts val="3897"/>
              </a:lnSpc>
            </a:pPr>
            <a:r>
              <a:rPr lang="en-US" sz="3093" spc="126" b="true">
                <a:solidFill>
                  <a:srgbClr val="000000"/>
                </a:solidFill>
                <a:latin typeface="Montserrat Bold"/>
                <a:ea typeface="Montserrat Bold"/>
                <a:cs typeface="Montserrat Bold"/>
                <a:sym typeface="Montserrat Bold"/>
              </a:rPr>
              <a:t>First milestone.</a:t>
            </a:r>
            <a:r>
              <a:rPr lang="en-US" sz="3093" spc="126">
                <a:solidFill>
                  <a:srgbClr val="000000"/>
                </a:solidFill>
                <a:latin typeface="Montserrat"/>
                <a:ea typeface="Montserrat"/>
                <a:cs typeface="Montserrat"/>
                <a:sym typeface="Montserrat"/>
              </a:rPr>
              <a:t> One pilot issuance with an anchor company</a:t>
            </a:r>
          </a:p>
        </p:txBody>
      </p:sp>
    </p:spTree>
  </p:cSld>
  <p:clrMapOvr>
    <a:masterClrMapping/>
  </p:clrMapOvr>
  <p:transition spd="fast">
    <p:push dir="l"/>
  </p:transition>
</p:sld>
</file>

<file path=ppt/slides/slide14.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637674" y="3833012"/>
            <a:ext cx="5285328" cy="3043070"/>
          </a:xfrm>
          <a:prstGeom prst="rect">
            <a:avLst/>
          </a:prstGeom>
        </p:spPr>
        <p:txBody>
          <a:bodyPr anchor="t" rtlCol="false" tIns="0" lIns="0" bIns="0" rIns="0">
            <a:spAutoFit/>
          </a:bodyPr>
          <a:lstStyle/>
          <a:p>
            <a:pPr algn="l">
              <a:lnSpc>
                <a:spcPts val="7872"/>
              </a:lnSpc>
            </a:pPr>
            <a:r>
              <a:rPr lang="en-US" sz="7872" b="true">
                <a:solidFill>
                  <a:srgbClr val="000000"/>
                </a:solidFill>
                <a:latin typeface="Montserrat Ultra-Bold"/>
                <a:ea typeface="Montserrat Ultra-Bold"/>
                <a:cs typeface="Montserrat Ultra-Bold"/>
                <a:sym typeface="Montserrat Ultra-Bold"/>
              </a:rPr>
              <a:t>Traditional Market Rules</a:t>
            </a:r>
          </a:p>
        </p:txBody>
      </p:sp>
      <p:sp>
        <p:nvSpPr>
          <p:cNvPr name="TextBox 3" id="3"/>
          <p:cNvSpPr txBox="true"/>
          <p:nvPr/>
        </p:nvSpPr>
        <p:spPr>
          <a:xfrm rot="0">
            <a:off x="7251015" y="4755052"/>
            <a:ext cx="5736748"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DeFi</a:t>
            </a:r>
          </a:p>
        </p:txBody>
      </p:sp>
      <p:sp>
        <p:nvSpPr>
          <p:cNvPr name="TextBox 4" id="4"/>
          <p:cNvSpPr txBox="true"/>
          <p:nvPr/>
        </p:nvSpPr>
        <p:spPr>
          <a:xfrm rot="0">
            <a:off x="6176504" y="4750660"/>
            <a:ext cx="1254985"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a:t>
            </a:r>
          </a:p>
        </p:txBody>
      </p:sp>
      <p:sp>
        <p:nvSpPr>
          <p:cNvPr name="TextBox 5" id="5"/>
          <p:cNvSpPr txBox="true"/>
          <p:nvPr/>
        </p:nvSpPr>
        <p:spPr>
          <a:xfrm rot="0">
            <a:off x="10608534" y="4620205"/>
            <a:ext cx="1254985" cy="1218040"/>
          </a:xfrm>
          <a:prstGeom prst="rect">
            <a:avLst/>
          </a:prstGeom>
        </p:spPr>
        <p:txBody>
          <a:bodyPr anchor="t" rtlCol="false" tIns="0" lIns="0" bIns="0" rIns="0">
            <a:spAutoFit/>
          </a:bodyPr>
          <a:lstStyle/>
          <a:p>
            <a:pPr algn="l">
              <a:lnSpc>
                <a:spcPts val="9127"/>
              </a:lnSpc>
            </a:pPr>
            <a:r>
              <a:rPr lang="en-US" sz="9127" b="true">
                <a:solidFill>
                  <a:srgbClr val="000000"/>
                </a:solidFill>
                <a:latin typeface="Montserrat Ultra-Bold"/>
                <a:ea typeface="Montserrat Ultra-Bold"/>
                <a:cs typeface="Montserrat Ultra-Bold"/>
                <a:sym typeface="Montserrat Ultra-Bold"/>
              </a:rPr>
              <a:t>=</a:t>
            </a:r>
          </a:p>
        </p:txBody>
      </p:sp>
      <p:sp>
        <p:nvSpPr>
          <p:cNvPr name="TextBox 6" id="6"/>
          <p:cNvSpPr txBox="true"/>
          <p:nvPr/>
        </p:nvSpPr>
        <p:spPr>
          <a:xfrm rot="0">
            <a:off x="11863519" y="4858633"/>
            <a:ext cx="5999039" cy="982302"/>
          </a:xfrm>
          <a:prstGeom prst="rect">
            <a:avLst/>
          </a:prstGeom>
        </p:spPr>
        <p:txBody>
          <a:bodyPr anchor="t" rtlCol="false" tIns="0" lIns="0" bIns="0" rIns="0">
            <a:spAutoFit/>
          </a:bodyPr>
          <a:lstStyle/>
          <a:p>
            <a:pPr algn="l">
              <a:lnSpc>
                <a:spcPts val="7391"/>
              </a:lnSpc>
            </a:pPr>
            <a:r>
              <a:rPr lang="en-US" sz="7391" b="true">
                <a:solidFill>
                  <a:srgbClr val="000000"/>
                </a:solidFill>
                <a:latin typeface="Montserrat Ultra-Bold"/>
                <a:ea typeface="Montserrat Ultra-Bold"/>
                <a:cs typeface="Montserrat Ultra-Bold"/>
                <a:sym typeface="Montserrat Ultra-Bold"/>
              </a:rPr>
              <a:t>Fractachain</a:t>
            </a:r>
          </a:p>
        </p:txBody>
      </p:sp>
      <p:sp>
        <p:nvSpPr>
          <p:cNvPr name="TextBox 7" id="7"/>
          <p:cNvSpPr txBox="true"/>
          <p:nvPr/>
        </p:nvSpPr>
        <p:spPr>
          <a:xfrm rot="0">
            <a:off x="1028700" y="7396005"/>
            <a:ext cx="4421622" cy="1134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Clear Rules</a:t>
            </a:r>
          </a:p>
          <a:p>
            <a:pPr algn="l">
              <a:lnSpc>
                <a:spcPts val="3024"/>
              </a:lnSpc>
            </a:pPr>
            <a:r>
              <a:rPr lang="en-US" sz="2400" spc="98">
                <a:solidFill>
                  <a:srgbClr val="000000"/>
                </a:solidFill>
                <a:latin typeface="Montserrat"/>
                <a:ea typeface="Montserrat"/>
                <a:cs typeface="Montserrat"/>
                <a:sym typeface="Montserrat"/>
              </a:rPr>
              <a:t>Custody</a:t>
            </a:r>
          </a:p>
          <a:p>
            <a:pPr algn="l">
              <a:lnSpc>
                <a:spcPts val="3024"/>
              </a:lnSpc>
            </a:pPr>
            <a:r>
              <a:rPr lang="en-US" sz="2400" spc="98">
                <a:solidFill>
                  <a:srgbClr val="000000"/>
                </a:solidFill>
                <a:latin typeface="Montserrat"/>
                <a:ea typeface="Montserrat"/>
                <a:cs typeface="Montserrat"/>
                <a:sym typeface="Montserrat"/>
              </a:rPr>
              <a:t>Safety</a:t>
            </a:r>
          </a:p>
        </p:txBody>
      </p:sp>
      <p:sp>
        <p:nvSpPr>
          <p:cNvPr name="TextBox 8" id="8"/>
          <p:cNvSpPr txBox="true"/>
          <p:nvPr/>
        </p:nvSpPr>
        <p:spPr>
          <a:xfrm rot="0">
            <a:off x="6978308" y="7396005"/>
            <a:ext cx="4331385" cy="1134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High Liquidity</a:t>
            </a:r>
          </a:p>
          <a:p>
            <a:pPr algn="l">
              <a:lnSpc>
                <a:spcPts val="3024"/>
              </a:lnSpc>
            </a:pPr>
            <a:r>
              <a:rPr lang="en-US" sz="2400" spc="98">
                <a:solidFill>
                  <a:srgbClr val="000000"/>
                </a:solidFill>
                <a:latin typeface="Montserrat"/>
                <a:ea typeface="Montserrat"/>
                <a:cs typeface="Montserrat"/>
                <a:sym typeface="Montserrat"/>
              </a:rPr>
              <a:t>Global Access</a:t>
            </a:r>
          </a:p>
          <a:p>
            <a:pPr algn="l">
              <a:lnSpc>
                <a:spcPts val="3024"/>
              </a:lnSpc>
            </a:pPr>
            <a:r>
              <a:rPr lang="en-US" sz="2400" spc="98">
                <a:solidFill>
                  <a:srgbClr val="000000"/>
                </a:solidFill>
                <a:latin typeface="Montserrat"/>
                <a:ea typeface="Montserrat"/>
                <a:cs typeface="Montserrat"/>
                <a:sym typeface="Montserrat"/>
              </a:rPr>
              <a:t>24/7 Trading</a:t>
            </a:r>
          </a:p>
        </p:txBody>
      </p:sp>
    </p:spTree>
  </p:cSld>
  <p:clrMapOvr>
    <a:masterClrMapping/>
  </p:clrMapOvr>
  <p:transition spd="fast">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38963" y="3188368"/>
            <a:ext cx="3534955" cy="3534955"/>
          </a:xfrm>
          <a:custGeom>
            <a:avLst/>
            <a:gdLst/>
            <a:ahLst/>
            <a:cxnLst/>
            <a:rect r="r" b="b" t="t" l="l"/>
            <a:pathLst>
              <a:path h="3534955" w="3534955">
                <a:moveTo>
                  <a:pt x="0" y="0"/>
                </a:moveTo>
                <a:lnTo>
                  <a:pt x="3534955" y="0"/>
                </a:lnTo>
                <a:lnTo>
                  <a:pt x="3534955" y="3534956"/>
                </a:lnTo>
                <a:lnTo>
                  <a:pt x="0" y="3534956"/>
                </a:lnTo>
                <a:lnTo>
                  <a:pt x="0" y="0"/>
                </a:lnTo>
                <a:close/>
              </a:path>
            </a:pathLst>
          </a:custGeom>
          <a:blipFill>
            <a:blip r:embed="rId2"/>
            <a:stretch>
              <a:fillRect l="-7441" t="-2790" r="-11806" b="-16574"/>
            </a:stretch>
          </a:blipFill>
        </p:spPr>
      </p:sp>
      <p:sp>
        <p:nvSpPr>
          <p:cNvPr name="Freeform 3" id="3"/>
          <p:cNvSpPr/>
          <p:nvPr/>
        </p:nvSpPr>
        <p:spPr>
          <a:xfrm flipH="false" flipV="false" rot="0">
            <a:off x="9837507" y="3188368"/>
            <a:ext cx="3619428" cy="3619428"/>
          </a:xfrm>
          <a:custGeom>
            <a:avLst/>
            <a:gdLst/>
            <a:ahLst/>
            <a:cxnLst/>
            <a:rect r="r" b="b" t="t" l="l"/>
            <a:pathLst>
              <a:path h="3619428" w="3619428">
                <a:moveTo>
                  <a:pt x="0" y="0"/>
                </a:moveTo>
                <a:lnTo>
                  <a:pt x="3619428" y="0"/>
                </a:lnTo>
                <a:lnTo>
                  <a:pt x="3619428" y="3619428"/>
                </a:lnTo>
                <a:lnTo>
                  <a:pt x="0" y="3619428"/>
                </a:lnTo>
                <a:lnTo>
                  <a:pt x="0" y="0"/>
                </a:lnTo>
                <a:close/>
              </a:path>
            </a:pathLst>
          </a:custGeom>
          <a:blipFill>
            <a:blip r:embed="rId3"/>
            <a:stretch>
              <a:fillRect l="0" t="0" r="0" b="0"/>
            </a:stretch>
          </a:blipFill>
        </p:spPr>
      </p:sp>
      <p:sp>
        <p:nvSpPr>
          <p:cNvPr name="TextBox 4" id="4"/>
          <p:cNvSpPr txBox="true"/>
          <p:nvPr/>
        </p:nvSpPr>
        <p:spPr>
          <a:xfrm rot="0">
            <a:off x="1509963" y="1181100"/>
            <a:ext cx="12303969" cy="1034882"/>
          </a:xfrm>
          <a:prstGeom prst="rect">
            <a:avLst/>
          </a:prstGeom>
        </p:spPr>
        <p:txBody>
          <a:bodyPr anchor="t" rtlCol="false" tIns="0" lIns="0" bIns="0" rIns="0">
            <a:spAutoFit/>
          </a:bodyPr>
          <a:lstStyle/>
          <a:p>
            <a:pPr algn="l">
              <a:lnSpc>
                <a:spcPts val="7798"/>
              </a:lnSpc>
            </a:pPr>
            <a:r>
              <a:rPr lang="en-US" sz="7798" b="true">
                <a:solidFill>
                  <a:srgbClr val="000000"/>
                </a:solidFill>
                <a:latin typeface="Montserrat Ultra-Bold"/>
                <a:ea typeface="Montserrat Ultra-Bold"/>
                <a:cs typeface="Montserrat Ultra-Bold"/>
                <a:sym typeface="Montserrat Ultra-Bold"/>
              </a:rPr>
              <a:t>Team</a:t>
            </a:r>
          </a:p>
        </p:txBody>
      </p:sp>
      <p:sp>
        <p:nvSpPr>
          <p:cNvPr name="TextBox 5" id="5"/>
          <p:cNvSpPr txBox="true"/>
          <p:nvPr/>
        </p:nvSpPr>
        <p:spPr>
          <a:xfrm rot="0">
            <a:off x="4938963" y="7063560"/>
            <a:ext cx="3730017" cy="498291"/>
          </a:xfrm>
          <a:prstGeom prst="rect">
            <a:avLst/>
          </a:prstGeom>
        </p:spPr>
        <p:txBody>
          <a:bodyPr anchor="t" rtlCol="false" tIns="0" lIns="0" bIns="0" rIns="0">
            <a:spAutoFit/>
          </a:bodyPr>
          <a:lstStyle/>
          <a:p>
            <a:pPr algn="l" marL="0" indent="0" lvl="0">
              <a:lnSpc>
                <a:spcPts val="3826"/>
              </a:lnSpc>
              <a:spcBef>
                <a:spcPct val="0"/>
              </a:spcBef>
            </a:pPr>
            <a:r>
              <a:rPr lang="en-US" b="true" sz="3826">
                <a:solidFill>
                  <a:srgbClr val="000000"/>
                </a:solidFill>
                <a:latin typeface="Montserrat Bold"/>
                <a:ea typeface="Montserrat Bold"/>
                <a:cs typeface="Montserrat Bold"/>
                <a:sym typeface="Montserrat Bold"/>
              </a:rPr>
              <a:t>EROS PUCA</a:t>
            </a:r>
          </a:p>
        </p:txBody>
      </p:sp>
      <p:sp>
        <p:nvSpPr>
          <p:cNvPr name="TextBox 6" id="6"/>
          <p:cNvSpPr txBox="true"/>
          <p:nvPr/>
        </p:nvSpPr>
        <p:spPr>
          <a:xfrm rot="0">
            <a:off x="4938963" y="7804185"/>
            <a:ext cx="3534955" cy="861841"/>
          </a:xfrm>
          <a:prstGeom prst="rect">
            <a:avLst/>
          </a:prstGeom>
        </p:spPr>
        <p:txBody>
          <a:bodyPr anchor="t" rtlCol="false" tIns="0" lIns="0" bIns="0" rIns="0">
            <a:spAutoFit/>
          </a:bodyPr>
          <a:lstStyle/>
          <a:p>
            <a:pPr algn="l">
              <a:lnSpc>
                <a:spcPts val="3608"/>
              </a:lnSpc>
            </a:pPr>
            <a:r>
              <a:rPr lang="en-US" sz="2863" spc="117">
                <a:solidFill>
                  <a:srgbClr val="000000"/>
                </a:solidFill>
                <a:latin typeface="Montserrat"/>
                <a:ea typeface="Montserrat"/>
                <a:cs typeface="Montserrat"/>
                <a:sym typeface="Montserrat"/>
              </a:rPr>
              <a:t>CEO &amp; Founder </a:t>
            </a:r>
          </a:p>
          <a:p>
            <a:pPr algn="l">
              <a:lnSpc>
                <a:spcPts val="3307"/>
              </a:lnSpc>
            </a:pPr>
            <a:r>
              <a:rPr lang="en-US" sz="2624" spc="107">
                <a:solidFill>
                  <a:srgbClr val="000000"/>
                </a:solidFill>
                <a:latin typeface="Montserrat"/>
                <a:ea typeface="Montserrat"/>
                <a:cs typeface="Montserrat"/>
                <a:sym typeface="Montserrat"/>
              </a:rPr>
              <a:t>diamantitos.com.ar</a:t>
            </a:r>
          </a:p>
        </p:txBody>
      </p:sp>
      <p:sp>
        <p:nvSpPr>
          <p:cNvPr name="TextBox 7" id="7"/>
          <p:cNvSpPr txBox="true"/>
          <p:nvPr/>
        </p:nvSpPr>
        <p:spPr>
          <a:xfrm rot="0">
            <a:off x="9837507" y="7071068"/>
            <a:ext cx="5470986" cy="490784"/>
          </a:xfrm>
          <a:prstGeom prst="rect">
            <a:avLst/>
          </a:prstGeom>
        </p:spPr>
        <p:txBody>
          <a:bodyPr anchor="t" rtlCol="false" tIns="0" lIns="0" bIns="0" rIns="0">
            <a:spAutoFit/>
          </a:bodyPr>
          <a:lstStyle/>
          <a:p>
            <a:pPr algn="l" marL="0" indent="0" lvl="0">
              <a:lnSpc>
                <a:spcPts val="3712"/>
              </a:lnSpc>
              <a:spcBef>
                <a:spcPct val="0"/>
              </a:spcBef>
            </a:pPr>
            <a:r>
              <a:rPr lang="en-US" b="true" sz="3712">
                <a:solidFill>
                  <a:srgbClr val="000000"/>
                </a:solidFill>
                <a:latin typeface="Montserrat Bold"/>
                <a:ea typeface="Montserrat Bold"/>
                <a:cs typeface="Montserrat Bold"/>
                <a:sym typeface="Montserrat Bold"/>
              </a:rPr>
              <a:t>CHOCOBAR ANTONIO</a:t>
            </a:r>
          </a:p>
        </p:txBody>
      </p:sp>
      <p:sp>
        <p:nvSpPr>
          <p:cNvPr name="TextBox 8" id="8"/>
          <p:cNvSpPr txBox="true"/>
          <p:nvPr/>
        </p:nvSpPr>
        <p:spPr>
          <a:xfrm rot="0">
            <a:off x="9837507" y="7804185"/>
            <a:ext cx="4925074" cy="1312695"/>
          </a:xfrm>
          <a:prstGeom prst="rect">
            <a:avLst/>
          </a:prstGeom>
        </p:spPr>
        <p:txBody>
          <a:bodyPr anchor="t" rtlCol="false" tIns="0" lIns="0" bIns="0" rIns="0">
            <a:spAutoFit/>
          </a:bodyPr>
          <a:lstStyle/>
          <a:p>
            <a:pPr algn="l">
              <a:lnSpc>
                <a:spcPts val="3603"/>
              </a:lnSpc>
            </a:pPr>
            <a:r>
              <a:rPr lang="en-US" sz="2859" spc="117">
                <a:solidFill>
                  <a:srgbClr val="000000"/>
                </a:solidFill>
                <a:latin typeface="Montserrat"/>
                <a:ea typeface="Montserrat"/>
                <a:cs typeface="Montserrat"/>
                <a:sym typeface="Montserrat"/>
              </a:rPr>
              <a:t>Tec. Systems Analyst</a:t>
            </a:r>
          </a:p>
          <a:p>
            <a:pPr algn="l">
              <a:lnSpc>
                <a:spcPts val="3574"/>
              </a:lnSpc>
            </a:pPr>
            <a:r>
              <a:rPr lang="en-US" sz="2837" spc="116">
                <a:solidFill>
                  <a:srgbClr val="000000"/>
                </a:solidFill>
                <a:latin typeface="Montserrat"/>
                <a:ea typeface="Montserrat"/>
                <a:cs typeface="Montserrat"/>
                <a:sym typeface="Montserrat"/>
              </a:rPr>
              <a:t>Software </a:t>
            </a:r>
            <a:r>
              <a:rPr lang="en-US" sz="2837" spc="116">
                <a:solidFill>
                  <a:srgbClr val="000000"/>
                </a:solidFill>
                <a:latin typeface="Montserrat"/>
                <a:ea typeface="Montserrat"/>
                <a:cs typeface="Montserrat"/>
                <a:sym typeface="Montserrat"/>
              </a:rPr>
              <a:t>Developer</a:t>
            </a:r>
          </a:p>
          <a:p>
            <a:pPr algn="l">
              <a:lnSpc>
                <a:spcPts val="3276"/>
              </a:lnSpc>
            </a:pPr>
          </a:p>
        </p:txBody>
      </p:sp>
    </p:spTree>
  </p:cSld>
  <p:clrMapOvr>
    <a:masterClrMapping/>
  </p:clrMapOvr>
  <p:transition spd="fast">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DAHWHmNom2Q</dc:identifier>
  <dcterms:modified xsi:type="dcterms:W3CDTF">2011-08-01T06:04:30Z</dcterms:modified>
  <cp:revision>1</cp:revision>
  <dc:title>Fractachain</dc:title>
</cp:coreProperties>
</file>